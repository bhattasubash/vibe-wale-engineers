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64592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png"/>
          <p:cNvPicPr>
            <a:picLocks noChangeAspect="1"/>
          </p:cNvPicPr>
          <p:nvPr/>
        </p:nvPicPr>
        <p:blipFill>
          <a:blip r:embed="rId2"/>
          <a:stretch>
            <a:fillRect/>
          </a:stretch>
        </p:blipFill>
        <p:spPr>
          <a:xfrm>
            <a:off x="0" y="0"/>
            <a:ext cx="16459200" cy="9144000"/>
          </a:xfrm>
          <a:prstGeom prst="rect">
            <a:avLst/>
          </a:prstGeom>
        </p:spPr>
      </p:pic>
      <p:sp>
        <p:nvSpPr>
          <p:cNvPr id="3" name="Rectangle 2"/>
          <p:cNvSpPr/>
          <p:nvPr/>
        </p:nvSpPr>
        <p:spPr>
          <a:xfrm>
            <a:off x="2468880" y="320040"/>
            <a:ext cx="987552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240280"/>
            <a:ext cx="7315200" cy="297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5166360"/>
            <a:ext cx="740664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26080" y="393192"/>
            <a:ext cx="9144000" cy="594360"/>
          </a:xfrm>
          <a:prstGeom prst="rect">
            <a:avLst/>
          </a:prstGeom>
          <a:noFill/>
        </p:spPr>
        <p:txBody>
          <a:bodyPr wrap="square" lIns="36576" rIns="36576" tIns="27432" bIns="27432" anchor="t">
            <a:spAutoFit/>
          </a:bodyPr>
          <a:lstStyle/>
          <a:p>
            <a:pPr algn="ctr"/>
            <a:r>
              <a:rPr sz="2900" b="0">
                <a:solidFill>
                  <a:srgbClr val="1F4E79"/>
                </a:solidFill>
                <a:latin typeface="Times New Roman"/>
              </a:rPr>
              <a:t>SMART INDIA HACKATHON 2024</a:t>
            </a:r>
          </a:p>
        </p:txBody>
      </p:sp>
      <p:sp>
        <p:nvSpPr>
          <p:cNvPr id="7" name="TextBox 6"/>
          <p:cNvSpPr txBox="1"/>
          <p:nvPr/>
        </p:nvSpPr>
        <p:spPr>
          <a:xfrm>
            <a:off x="1115568" y="2487168"/>
            <a:ext cx="6903720" cy="2331720"/>
          </a:xfrm>
          <a:prstGeom prst="rect">
            <a:avLst/>
          </a:prstGeom>
          <a:noFill/>
        </p:spPr>
        <p:txBody>
          <a:bodyPr wrap="square" lIns="45720" rIns="45720" tIns="18288" bIns="18288">
            <a:spAutoFit/>
          </a:bodyPr>
          <a:lstStyle/>
          <a:p>
            <a:pPr>
              <a:spcAft>
                <a:spcPts val="500"/>
              </a:spcAft>
            </a:pPr>
            <a:r>
              <a:rPr sz="1650">
                <a:latin typeface="Arial"/>
              </a:rPr>
              <a:t>• </a:t>
            </a:r>
            <a:r>
              <a:rPr b="1" sz="1650">
                <a:latin typeface="Arial"/>
              </a:rPr>
              <a:t>Problem Statement ID</a:t>
            </a:r>
            <a:r>
              <a:rPr sz="1650">
                <a:latin typeface="Arial"/>
              </a:rPr>
              <a:t> — [Enter your PS ID, e.g., SIH-16XX]</a:t>
            </a:r>
          </a:p>
          <a:p>
            <a:pPr>
              <a:spcAft>
                <a:spcPts val="500"/>
              </a:spcAft>
            </a:pPr>
            <a:r>
              <a:rPr sz="1650">
                <a:latin typeface="Arial"/>
              </a:rPr>
              <a:t>• </a:t>
            </a:r>
            <a:r>
              <a:rPr b="1" sz="1650">
                <a:latin typeface="Arial"/>
              </a:rPr>
              <a:t>Problem Statement Title</a:t>
            </a:r>
            <a:r>
              <a:rPr sz="1650">
                <a:latin typeface="Arial"/>
              </a:rPr>
              <a:t> — Standardized Patient Intake, Dashavidha Pariksha Automation &amp; Digital OPD Triage Kiosk for AYUSH Hospitals</a:t>
            </a:r>
          </a:p>
        </p:txBody>
      </p:sp>
      <p:sp>
        <p:nvSpPr>
          <p:cNvPr id="8" name="TextBox 7"/>
          <p:cNvSpPr txBox="1"/>
          <p:nvPr/>
        </p:nvSpPr>
        <p:spPr>
          <a:xfrm>
            <a:off x="1143000" y="5285232"/>
            <a:ext cx="6903720" cy="731520"/>
          </a:xfrm>
          <a:prstGeom prst="rect">
            <a:avLst/>
          </a:prstGeom>
          <a:noFill/>
        </p:spPr>
        <p:txBody>
          <a:bodyPr wrap="square" lIns="36576" rIns="36576" tIns="27432" bIns="27432" anchor="ctr">
            <a:spAutoFit/>
          </a:bodyPr>
          <a:lstStyle/>
          <a:p>
            <a:pPr algn="ctr"/>
            <a:r>
              <a:rPr sz="1200" b="1">
                <a:solidFill>
                  <a:srgbClr val="000000"/>
                </a:solidFill>
                <a:latin typeface="Arial"/>
              </a:rPr>
              <a:t>“Bridging the 2-Minute OPD Bottleneck with Standardized Ayurvedic Intake, Deterministic Constitutional Assessment &amp; ABDM Integration”</a:t>
            </a:r>
          </a:p>
        </p:txBody>
      </p:sp>
      <p:sp>
        <p:nvSpPr>
          <p:cNvPr id="9" name="TextBox 8"/>
          <p:cNvSpPr txBox="1"/>
          <p:nvPr/>
        </p:nvSpPr>
        <p:spPr>
          <a:xfrm>
            <a:off x="1143000" y="6080760"/>
            <a:ext cx="6949440" cy="1325880"/>
          </a:xfrm>
          <a:prstGeom prst="rect">
            <a:avLst/>
          </a:prstGeom>
          <a:noFill/>
        </p:spPr>
        <p:txBody>
          <a:bodyPr wrap="square" lIns="45720" rIns="45720" tIns="18288" bIns="18288">
            <a:spAutoFit/>
          </a:bodyPr>
          <a:lstStyle/>
          <a:p>
            <a:pPr>
              <a:spcAft>
                <a:spcPts val="200"/>
              </a:spcAft>
            </a:pPr>
            <a:r>
              <a:rPr sz="1250">
                <a:latin typeface="Arial"/>
              </a:rPr>
              <a:t>• </a:t>
            </a:r>
            <a:r>
              <a:rPr b="1" sz="1250">
                <a:latin typeface="Arial"/>
              </a:rPr>
              <a:t>Theme</a:t>
            </a:r>
            <a:r>
              <a:rPr sz="1250">
                <a:latin typeface="Arial"/>
              </a:rPr>
              <a:t> — MedTech / BioTech / HealthTech</a:t>
            </a:r>
          </a:p>
          <a:p>
            <a:pPr>
              <a:spcAft>
                <a:spcPts val="200"/>
              </a:spcAft>
            </a:pPr>
            <a:r>
              <a:rPr sz="1250">
                <a:latin typeface="Arial"/>
              </a:rPr>
              <a:t>• </a:t>
            </a:r>
            <a:r>
              <a:rPr b="1" sz="1250">
                <a:latin typeface="Arial"/>
              </a:rPr>
              <a:t>PS Category</a:t>
            </a:r>
            <a:r>
              <a:rPr sz="1250">
                <a:latin typeface="Arial"/>
              </a:rPr>
              <a:t> — Software / Hardware-Software Blend</a:t>
            </a:r>
          </a:p>
          <a:p>
            <a:pPr>
              <a:spcAft>
                <a:spcPts val="200"/>
              </a:spcAft>
            </a:pPr>
            <a:r>
              <a:rPr sz="1250">
                <a:latin typeface="Arial"/>
              </a:rPr>
              <a:t>• </a:t>
            </a:r>
            <a:r>
              <a:rPr b="1" sz="1250">
                <a:latin typeface="Arial"/>
              </a:rPr>
              <a:t>Team Name</a:t>
            </a:r>
            <a:r>
              <a:rPr sz="1250">
                <a:latin typeface="Arial"/>
              </a:rPr>
              <a:t> — Vibe Wale Engineers</a:t>
            </a:r>
          </a:p>
          <a:p>
            <a:pPr>
              <a:spcAft>
                <a:spcPts val="200"/>
              </a:spcAft>
            </a:pPr>
            <a:r>
              <a:rPr sz="1250">
                <a:latin typeface="Arial"/>
              </a:rPr>
              <a:t>• </a:t>
            </a:r>
            <a:r>
              <a:rPr b="1" sz="1250">
                <a:latin typeface="Arial"/>
              </a:rPr>
              <a:t>Team ID</a:t>
            </a:r>
            <a:r>
              <a:rPr sz="1250">
                <a:latin typeface="Arial"/>
              </a:rPr>
              <a:t> — [Enter Team ID]</a:t>
            </a:r>
          </a:p>
          <a:p>
            <a:pPr>
              <a:spcAft>
                <a:spcPts val="200"/>
              </a:spcAft>
            </a:pPr>
            <a:r>
              <a:rPr sz="1250">
                <a:latin typeface="Arial"/>
              </a:rPr>
              <a:t>• </a:t>
            </a:r>
            <a:r>
              <a:rPr b="1" sz="1250">
                <a:latin typeface="Arial"/>
              </a:rPr>
              <a:t>Target Organization</a:t>
            </a:r>
            <a:r>
              <a:rPr sz="1250">
                <a:latin typeface="Arial"/>
              </a:rPr>
              <a:t> — All India Institute of Ayurveda (AIIA) / Ministry of AYUSH, Govt. of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png"/>
          <p:cNvPicPr>
            <a:picLocks noChangeAspect="1"/>
          </p:cNvPicPr>
          <p:nvPr/>
        </p:nvPicPr>
        <p:blipFill>
          <a:blip r:embed="rId2"/>
          <a:stretch>
            <a:fillRect/>
          </a:stretch>
        </p:blipFill>
        <p:spPr>
          <a:xfrm>
            <a:off x="0" y="0"/>
            <a:ext cx="16459200" cy="9144000"/>
          </a:xfrm>
          <a:prstGeom prst="rect">
            <a:avLst/>
          </a:prstGeom>
        </p:spPr>
      </p:pic>
      <p:sp>
        <p:nvSpPr>
          <p:cNvPr id="3" name="Rectangle 2"/>
          <p:cNvSpPr/>
          <p:nvPr/>
        </p:nvSpPr>
        <p:spPr>
          <a:xfrm>
            <a:off x="2286000" y="320040"/>
            <a:ext cx="1033272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907792"/>
            <a:ext cx="4160520" cy="5074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16752" y="2907792"/>
            <a:ext cx="4160520" cy="5074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384280" y="2907792"/>
            <a:ext cx="4160520" cy="5074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4600" y="429768"/>
            <a:ext cx="9784080" cy="566928"/>
          </a:xfrm>
          <a:prstGeom prst="rect">
            <a:avLst/>
          </a:prstGeom>
          <a:noFill/>
        </p:spPr>
        <p:txBody>
          <a:bodyPr wrap="square" lIns="36576" rIns="36576" tIns="27432" bIns="27432" anchor="t">
            <a:spAutoFit/>
          </a:bodyPr>
          <a:lstStyle/>
          <a:p>
            <a:pPr algn="ctr"/>
            <a:r>
              <a:rPr sz="2200" b="0">
                <a:solidFill>
                  <a:srgbClr val="000000"/>
                </a:solidFill>
                <a:latin typeface="Times New Roman"/>
              </a:rPr>
              <a:t>PROPOSED SOLUTION &amp; CORE INNOVATION</a:t>
            </a:r>
          </a:p>
        </p:txBody>
      </p:sp>
      <p:sp>
        <p:nvSpPr>
          <p:cNvPr id="8" name="TextBox 7"/>
          <p:cNvSpPr txBox="1"/>
          <p:nvPr/>
        </p:nvSpPr>
        <p:spPr>
          <a:xfrm>
            <a:off x="987552" y="3017520"/>
            <a:ext cx="3931920" cy="4709160"/>
          </a:xfrm>
          <a:prstGeom prst="rect">
            <a:avLst/>
          </a:prstGeom>
          <a:noFill/>
        </p:spPr>
        <p:txBody>
          <a:bodyPr wrap="square" lIns="45720" rIns="45720" tIns="18288" bIns="18288">
            <a:spAutoFit/>
          </a:bodyPr>
          <a:lstStyle/>
          <a:p>
            <a:pPr>
              <a:spcAft>
                <a:spcPts val="200"/>
              </a:spcAft>
            </a:pPr>
            <a:r>
              <a:rPr sz="940">
                <a:latin typeface="Arial"/>
              </a:rPr>
              <a:t>• </a:t>
            </a:r>
            <a:r>
              <a:rPr b="1" sz="940">
                <a:latin typeface="Arial"/>
              </a:rPr>
              <a:t>Dual-Mode Voice &amp; Touch</a:t>
            </a:r>
            <a:r>
              <a:rPr sz="940">
                <a:latin typeface="Arial"/>
              </a:rPr>
              <a:t>: Accessible to elderly and rural illiterate patients via conversational Hindi/English audio prompts and high-contrast 64px touch targets.</a:t>
            </a:r>
          </a:p>
          <a:p>
            <a:pPr>
              <a:spcAft>
                <a:spcPts val="200"/>
              </a:spcAft>
            </a:pPr>
            <a:r>
              <a:rPr sz="940">
                <a:latin typeface="Arial"/>
              </a:rPr>
              <a:t>• </a:t>
            </a:r>
            <a:r>
              <a:rPr b="1" sz="940">
                <a:latin typeface="Arial"/>
              </a:rPr>
              <a:t>Audio-Guided Consent</a:t>
            </a:r>
            <a:r>
              <a:rPr sz="940">
                <a:latin typeface="Arial"/>
              </a:rPr>
              <a:t>: Full legal compliance under DPDP Act 2023 with mandatory audio explanation and explicit digital consent prior to health data capture.</a:t>
            </a:r>
          </a:p>
          <a:p>
            <a:pPr>
              <a:spcAft>
                <a:spcPts val="200"/>
              </a:spcAft>
            </a:pPr>
            <a:r>
              <a:rPr sz="940">
                <a:latin typeface="Arial"/>
              </a:rPr>
              <a:t>• </a:t>
            </a:r>
            <a:r>
              <a:rPr b="1" sz="940">
                <a:latin typeface="Arial"/>
              </a:rPr>
              <a:t>Adaptive SOCRATES Follow-Up</a:t>
            </a:r>
            <a:r>
              <a:rPr sz="940">
                <a:latin typeface="Arial"/>
              </a:rPr>
              <a:t>: Dynamically branches questions based on chief complaint category (Joint Pain, Acidity, Cough, Skin) to capture onset, duration, and severity.</a:t>
            </a:r>
          </a:p>
          <a:p>
            <a:pPr>
              <a:spcAft>
                <a:spcPts val="200"/>
              </a:spcAft>
            </a:pPr>
            <a:r>
              <a:rPr sz="940">
                <a:latin typeface="Arial"/>
              </a:rPr>
              <a:t>• </a:t>
            </a:r>
            <a:r>
              <a:rPr b="1" sz="940">
                <a:latin typeface="Arial"/>
              </a:rPr>
              <a:t>Multilingual Prescription OCR</a:t>
            </a:r>
            <a:r>
              <a:rPr sz="940">
                <a:latin typeface="Arial"/>
              </a:rPr>
              <a:t>: Onboard entity extraction parses previous doctor prescriptions and lab reports without manual re-typing.</a:t>
            </a:r>
          </a:p>
          <a:p>
            <a:pPr>
              <a:spcAft>
                <a:spcPts val="200"/>
              </a:spcAft>
            </a:pPr>
            <a:r>
              <a:rPr sz="940">
                <a:latin typeface="Arial"/>
              </a:rPr>
              <a:t>• </a:t>
            </a:r>
            <a:r>
              <a:rPr b="1" sz="940">
                <a:latin typeface="Arial"/>
              </a:rPr>
              <a:t>Ephemeral Session Architecture</a:t>
            </a:r>
            <a:r>
              <a:rPr sz="940">
                <a:latin typeface="Arial"/>
              </a:rPr>
              <a:t>: Zero persistent data cached on kiosk hardware; data clears immediately after submission for patient privacy.</a:t>
            </a:r>
          </a:p>
        </p:txBody>
      </p:sp>
      <p:sp>
        <p:nvSpPr>
          <p:cNvPr id="9" name="TextBox 8"/>
          <p:cNvSpPr txBox="1"/>
          <p:nvPr/>
        </p:nvSpPr>
        <p:spPr>
          <a:xfrm>
            <a:off x="6080760" y="3017520"/>
            <a:ext cx="3931920" cy="4709160"/>
          </a:xfrm>
          <a:prstGeom prst="rect">
            <a:avLst/>
          </a:prstGeom>
          <a:noFill/>
        </p:spPr>
        <p:txBody>
          <a:bodyPr wrap="square" lIns="45720" rIns="45720" tIns="18288" bIns="18288">
            <a:spAutoFit/>
          </a:bodyPr>
          <a:lstStyle/>
          <a:p>
            <a:pPr>
              <a:spcAft>
                <a:spcPts val="200"/>
              </a:spcAft>
            </a:pPr>
            <a:r>
              <a:rPr sz="919">
                <a:latin typeface="Arial"/>
              </a:rPr>
              <a:t>• </a:t>
            </a:r>
            <a:r>
              <a:rPr b="1" sz="919">
                <a:latin typeface="Arial"/>
              </a:rPr>
              <a:t>Deterministic Prakriti Scoring</a:t>
            </a:r>
            <a:r>
              <a:rPr sz="919">
                <a:latin typeface="Arial"/>
              </a:rPr>
              <a:t>: 15 standardized constitutional parameters evaluated strictly using arithmetic weighted sums—zero LLM hallucination in dosha assignment.</a:t>
            </a:r>
          </a:p>
          <a:p>
            <a:pPr>
              <a:spcAft>
                <a:spcPts val="200"/>
              </a:spcAft>
            </a:pPr>
            <a:r>
              <a:rPr sz="919">
                <a:latin typeface="Arial"/>
              </a:rPr>
              <a:t>• </a:t>
            </a:r>
            <a:r>
              <a:rPr b="1" sz="919">
                <a:latin typeface="Arial"/>
              </a:rPr>
              <a:t>Charaka Samhita Vimana Sthana</a:t>
            </a:r>
            <a:r>
              <a:rPr sz="919">
                <a:latin typeface="Arial"/>
              </a:rPr>
              <a:t>: Traits directly mapped to classical Ayurvedic texts (Sharira, Twak, Agni, Koshtha, Manasika Prakriti).</a:t>
            </a:r>
          </a:p>
          <a:p>
            <a:pPr>
              <a:spcAft>
                <a:spcPts val="200"/>
              </a:spcAft>
            </a:pPr>
            <a:r>
              <a:rPr sz="919">
                <a:latin typeface="Arial"/>
              </a:rPr>
              <a:t>• </a:t>
            </a:r>
            <a:r>
              <a:rPr b="1" sz="919">
                <a:latin typeface="Arial"/>
              </a:rPr>
              <a:t>Automated Dashavidha Pariksha</a:t>
            </a:r>
            <a:r>
              <a:rPr sz="919">
                <a:latin typeface="Arial"/>
              </a:rPr>
              <a:t>: Captures the remaining 9 parameters (Vikriti, Sara, Samhanana, Pramana, Satmya, Satva, Ahara/Vyayama Shakti, Vaya).</a:t>
            </a:r>
          </a:p>
          <a:p>
            <a:pPr>
              <a:spcAft>
                <a:spcPts val="200"/>
              </a:spcAft>
            </a:pPr>
            <a:r>
              <a:rPr sz="919">
                <a:latin typeface="Arial"/>
              </a:rPr>
              <a:t>• </a:t>
            </a:r>
            <a:r>
              <a:rPr b="1" sz="919">
                <a:latin typeface="Arial"/>
              </a:rPr>
              <a:t>Emergency Red-Flag Detection</a:t>
            </a:r>
            <a:r>
              <a:rPr sz="919">
                <a:latin typeface="Arial"/>
              </a:rPr>
              <a:t>: Instant triage alerts for critical cardiac, neurological, and acute respiratory symptoms, prioritizing emergency care.</a:t>
            </a:r>
          </a:p>
          <a:p>
            <a:pPr>
              <a:spcAft>
                <a:spcPts val="200"/>
              </a:spcAft>
            </a:pPr>
            <a:r>
              <a:rPr sz="919">
                <a:latin typeface="Arial"/>
              </a:rPr>
              <a:t>• </a:t>
            </a:r>
            <a:r>
              <a:rPr b="1" sz="919">
                <a:latin typeface="Arial"/>
              </a:rPr>
              <a:t>Doctor-Validated Question Sets</a:t>
            </a:r>
            <a:r>
              <a:rPr sz="919">
                <a:latin typeface="Arial"/>
              </a:rPr>
              <a:t>: Clinical interview rubrics vetted and structured under guidance of licensed BAMS/MD (Ayurveda) physicians.</a:t>
            </a:r>
          </a:p>
        </p:txBody>
      </p:sp>
      <p:sp>
        <p:nvSpPr>
          <p:cNvPr id="10" name="TextBox 9"/>
          <p:cNvSpPr txBox="1"/>
          <p:nvPr/>
        </p:nvSpPr>
        <p:spPr>
          <a:xfrm>
            <a:off x="11448288" y="3017520"/>
            <a:ext cx="3931920" cy="4709160"/>
          </a:xfrm>
          <a:prstGeom prst="rect">
            <a:avLst/>
          </a:prstGeom>
          <a:noFill/>
        </p:spPr>
        <p:txBody>
          <a:bodyPr wrap="square" lIns="45720" rIns="45720" tIns="18288" bIns="18288">
            <a:spAutoFit/>
          </a:bodyPr>
          <a:lstStyle/>
          <a:p>
            <a:pPr>
              <a:spcAft>
                <a:spcPts val="200"/>
              </a:spcAft>
            </a:pPr>
            <a:r>
              <a:rPr sz="919">
                <a:latin typeface="Arial"/>
              </a:rPr>
              <a:t>• </a:t>
            </a:r>
            <a:r>
              <a:rPr b="1" sz="919">
                <a:latin typeface="Arial"/>
              </a:rPr>
              <a:t>Deterministic + Generative Hybrid</a:t>
            </a:r>
            <a:r>
              <a:rPr sz="919">
                <a:latin typeface="Arial"/>
              </a:rPr>
              <a:t>: Arithmetic rule engines compute dosha scores and red flags; LLMs act strictly as clinical transcription clerks.</a:t>
            </a:r>
          </a:p>
          <a:p>
            <a:pPr>
              <a:spcAft>
                <a:spcPts val="200"/>
              </a:spcAft>
            </a:pPr>
            <a:r>
              <a:rPr sz="919">
                <a:latin typeface="Arial"/>
              </a:rPr>
              <a:t>• </a:t>
            </a:r>
            <a:r>
              <a:rPr b="1" sz="919">
                <a:latin typeface="Arial"/>
              </a:rPr>
              <a:t>Sub-Second Edge Inference</a:t>
            </a:r>
            <a:r>
              <a:rPr sz="919">
                <a:latin typeface="Arial"/>
              </a:rPr>
              <a:t>: Gemini 2.5 Flash structured outputs with deterministic regex/keyword fallback for offline resilience.</a:t>
            </a:r>
          </a:p>
          <a:p>
            <a:pPr>
              <a:spcAft>
                <a:spcPts val="200"/>
              </a:spcAft>
            </a:pPr>
            <a:r>
              <a:rPr sz="919">
                <a:latin typeface="Arial"/>
              </a:rPr>
              <a:t>• </a:t>
            </a:r>
            <a:r>
              <a:rPr b="1" sz="919">
                <a:latin typeface="Arial"/>
              </a:rPr>
              <a:t>Physician-in-the-Loop Dashboard</a:t>
            </a:r>
            <a:r>
              <a:rPr sz="919">
                <a:latin typeface="Arial"/>
              </a:rPr>
              <a:t>: Doctors retain 100% diagnostic authority, reviewing, amending, or accepting pre-filled summaries with one tap.</a:t>
            </a:r>
          </a:p>
          <a:p>
            <a:pPr>
              <a:spcAft>
                <a:spcPts val="200"/>
              </a:spcAft>
            </a:pPr>
            <a:r>
              <a:rPr sz="919">
                <a:latin typeface="Arial"/>
              </a:rPr>
              <a:t>• </a:t>
            </a:r>
            <a:r>
              <a:rPr b="1" sz="919">
                <a:latin typeface="Arial"/>
              </a:rPr>
              <a:t>ABDM FHIR-Ready Payload</a:t>
            </a:r>
            <a:r>
              <a:rPr sz="919">
                <a:latin typeface="Arial"/>
              </a:rPr>
              <a:t>: Prepares standard Ayush-specific Health Document summaries ready to bind with ABHA IDs.</a:t>
            </a:r>
          </a:p>
          <a:p>
            <a:pPr>
              <a:spcAft>
                <a:spcPts val="200"/>
              </a:spcAft>
            </a:pPr>
            <a:r>
              <a:rPr sz="919">
                <a:latin typeface="Arial"/>
              </a:rPr>
              <a:t>• </a:t>
            </a:r>
            <a:r>
              <a:rPr b="1" sz="919">
                <a:latin typeface="Arial"/>
              </a:rPr>
              <a:t>Zero-Cost Production Stack</a:t>
            </a:r>
            <a:r>
              <a:rPr sz="919">
                <a:latin typeface="Arial"/>
              </a:rPr>
              <a:t>: Runs entirely on open-source, serverless, and free-tier infrastructure (FastAPI, React, Supabase IPv4 Pooler).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png"/>
          <p:cNvPicPr>
            <a:picLocks noChangeAspect="1"/>
          </p:cNvPicPr>
          <p:nvPr/>
        </p:nvPicPr>
        <p:blipFill>
          <a:blip r:embed="rId2"/>
          <a:stretch>
            <a:fillRect/>
          </a:stretch>
        </p:blipFill>
        <p:spPr>
          <a:xfrm>
            <a:off x="0" y="0"/>
            <a:ext cx="16459200" cy="9144000"/>
          </a:xfrm>
          <a:prstGeom prst="rect">
            <a:avLst/>
          </a:prstGeom>
        </p:spPr>
      </p:pic>
      <p:sp>
        <p:nvSpPr>
          <p:cNvPr id="3" name="Rectangle 2"/>
          <p:cNvSpPr/>
          <p:nvPr/>
        </p:nvSpPr>
        <p:spPr>
          <a:xfrm>
            <a:off x="2743200" y="320040"/>
            <a:ext cx="987552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887968" y="1627632"/>
            <a:ext cx="6995160" cy="4343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828800"/>
            <a:ext cx="7818120" cy="4160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26080" y="411480"/>
            <a:ext cx="9601200" cy="658368"/>
          </a:xfrm>
          <a:prstGeom prst="rect">
            <a:avLst/>
          </a:prstGeom>
          <a:noFill/>
        </p:spPr>
        <p:txBody>
          <a:bodyPr wrap="square" lIns="36576" rIns="36576" tIns="27432" bIns="27432" anchor="t">
            <a:spAutoFit/>
          </a:bodyPr>
          <a:lstStyle/>
          <a:p>
            <a:pPr algn="ctr"/>
            <a:r>
              <a:rPr sz="3000" b="0">
                <a:solidFill>
                  <a:srgbClr val="000000"/>
                </a:solidFill>
                <a:latin typeface="Times New Roman"/>
              </a:rPr>
              <a:t>TECHNICAL APPROACH</a:t>
            </a:r>
          </a:p>
        </p:txBody>
      </p:sp>
      <p:sp>
        <p:nvSpPr>
          <p:cNvPr id="7" name="TextBox 6"/>
          <p:cNvSpPr txBox="1"/>
          <p:nvPr/>
        </p:nvSpPr>
        <p:spPr>
          <a:xfrm>
            <a:off x="9098280" y="1755648"/>
            <a:ext cx="6492240" cy="320040"/>
          </a:xfrm>
          <a:prstGeom prst="rect">
            <a:avLst/>
          </a:prstGeom>
          <a:noFill/>
        </p:spPr>
        <p:txBody>
          <a:bodyPr wrap="square" lIns="36576" rIns="36576" tIns="27432" bIns="27432" anchor="t">
            <a:spAutoFit/>
          </a:bodyPr>
          <a:lstStyle/>
          <a:p>
            <a:pPr algn="l"/>
            <a:r>
              <a:rPr sz="1400" b="1">
                <a:solidFill>
                  <a:srgbClr val="000000"/>
                </a:solidFill>
                <a:latin typeface="Arial"/>
              </a:rPr>
              <a:t>ARCHITECTURE</a:t>
            </a:r>
          </a:p>
        </p:txBody>
      </p:sp>
      <p:sp>
        <p:nvSpPr>
          <p:cNvPr id="8" name="TextBox 7"/>
          <p:cNvSpPr txBox="1"/>
          <p:nvPr/>
        </p:nvSpPr>
        <p:spPr>
          <a:xfrm>
            <a:off x="9098280" y="2148840"/>
            <a:ext cx="6446520" cy="3611880"/>
          </a:xfrm>
          <a:prstGeom prst="rect">
            <a:avLst/>
          </a:prstGeom>
          <a:noFill/>
        </p:spPr>
        <p:txBody>
          <a:bodyPr wrap="square" lIns="45720" rIns="45720" tIns="18288" bIns="18288">
            <a:spAutoFit/>
          </a:bodyPr>
          <a:lstStyle/>
          <a:p>
            <a:pPr>
              <a:spcAft>
                <a:spcPts val="300"/>
              </a:spcAft>
            </a:pPr>
            <a:r>
              <a:rPr sz="1060">
                <a:latin typeface="Arial"/>
              </a:rPr>
              <a:t>Chain of services connecting kiosk intake, dual-engine clinical processing, secure cloud transaction storage, and physician review.</a:t>
            </a:r>
          </a:p>
          <a:p>
            <a:pPr>
              <a:spcAft>
                <a:spcPts val="300"/>
              </a:spcAft>
            </a:pPr>
            <a:r>
              <a:rPr sz="1060">
                <a:latin typeface="Arial"/>
              </a:rPr>
              <a:t>• Kiosk intake captures voice/touch responses and structured patient data.</a:t>
            </a:r>
          </a:p>
          <a:p>
            <a:pPr>
              <a:spcAft>
                <a:spcPts val="300"/>
              </a:spcAft>
            </a:pPr>
            <a:r>
              <a:rPr sz="1060">
                <a:latin typeface="Arial"/>
              </a:rPr>
              <a:t>• Deterministic scoring computes Prakriti and emergency red flags; LLM synthesizes clinical notes only.</a:t>
            </a:r>
          </a:p>
          <a:p>
            <a:pPr>
              <a:spcAft>
                <a:spcPts val="300"/>
              </a:spcAft>
            </a:pPr>
            <a:r>
              <a:rPr sz="1060">
                <a:latin typeface="Arial"/>
              </a:rPr>
              <a:t>• Supabase PostgreSQL stores transactions with Row Level Security and encrypted documents.</a:t>
            </a:r>
          </a:p>
          <a:p>
            <a:pPr>
              <a:spcAft>
                <a:spcPts val="300"/>
              </a:spcAft>
            </a:pPr>
            <a:r>
              <a:rPr sz="1060">
                <a:latin typeface="Arial"/>
              </a:rPr>
              <a:t>• Physician dashboard prioritizes emergency cases and supports Accept / Amend / Reject.</a:t>
            </a:r>
          </a:p>
          <a:p>
            <a:pPr>
              <a:spcAft>
                <a:spcPts val="300"/>
              </a:spcAft>
            </a:pPr>
            <a:r>
              <a:rPr sz="1060">
                <a:latin typeface="Arial"/>
              </a:rPr>
              <a:t>• ABDM-ready structured JSON/FHIR export supports ABHA Health Information Exchange.</a:t>
            </a:r>
          </a:p>
        </p:txBody>
      </p:sp>
      <p:sp>
        <p:nvSpPr>
          <p:cNvPr id="9" name="Rounded Rectangle 8"/>
          <p:cNvSpPr/>
          <p:nvPr/>
        </p:nvSpPr>
        <p:spPr>
          <a:xfrm>
            <a:off x="914400" y="2834640"/>
            <a:ext cx="1508760" cy="914400"/>
          </a:xfrm>
          <a:prstGeom prst="roundRect">
            <a:avLst/>
          </a:prstGeom>
          <a:solidFill>
            <a:srgbClr val="F2F2FA"/>
          </a:solidFill>
          <a:ln>
            <a:solidFill>
              <a:srgbClr val="5A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latin typeface="Arial"/>
              </a:rPr>
              <a:t>1. Kiosk Intake</a:t>
            </a:r>
          </a:p>
        </p:txBody>
      </p:sp>
      <p:sp>
        <p:nvSpPr>
          <p:cNvPr id="10" name="Rounded Rectangle 9"/>
          <p:cNvSpPr/>
          <p:nvPr/>
        </p:nvSpPr>
        <p:spPr>
          <a:xfrm>
            <a:off x="2788920" y="2834640"/>
            <a:ext cx="1508760" cy="914400"/>
          </a:xfrm>
          <a:prstGeom prst="roundRect">
            <a:avLst/>
          </a:prstGeom>
          <a:solidFill>
            <a:srgbClr val="F2F2FA"/>
          </a:solidFill>
          <a:ln>
            <a:solidFill>
              <a:srgbClr val="5A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latin typeface="Arial"/>
              </a:rPr>
              <a:t>2. Dual-Engine
Processing</a:t>
            </a:r>
          </a:p>
        </p:txBody>
      </p:sp>
      <p:sp>
        <p:nvSpPr>
          <p:cNvPr id="11" name="Rounded Rectangle 10"/>
          <p:cNvSpPr/>
          <p:nvPr/>
        </p:nvSpPr>
        <p:spPr>
          <a:xfrm>
            <a:off x="4663440" y="2834640"/>
            <a:ext cx="1508760" cy="914400"/>
          </a:xfrm>
          <a:prstGeom prst="roundRect">
            <a:avLst/>
          </a:prstGeom>
          <a:solidFill>
            <a:srgbClr val="F2F2FA"/>
          </a:solidFill>
          <a:ln>
            <a:solidFill>
              <a:srgbClr val="5A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latin typeface="Arial"/>
              </a:rPr>
              <a:t>3. Cloud DB &amp;
Queue</a:t>
            </a:r>
          </a:p>
        </p:txBody>
      </p:sp>
      <p:sp>
        <p:nvSpPr>
          <p:cNvPr id="12" name="Rounded Rectangle 11"/>
          <p:cNvSpPr/>
          <p:nvPr/>
        </p:nvSpPr>
        <p:spPr>
          <a:xfrm>
            <a:off x="6492240" y="2834640"/>
            <a:ext cx="1508760" cy="914400"/>
          </a:xfrm>
          <a:prstGeom prst="roundRect">
            <a:avLst/>
          </a:prstGeom>
          <a:solidFill>
            <a:srgbClr val="F2F2FA"/>
          </a:solidFill>
          <a:ln>
            <a:solidFill>
              <a:srgbClr val="5A5A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latin typeface="Arial"/>
              </a:rPr>
              <a:t>4. Physician
Dashboard</a:t>
            </a:r>
          </a:p>
        </p:txBody>
      </p:sp>
      <p:sp>
        <p:nvSpPr>
          <p:cNvPr id="13" name="Right Arrow 12"/>
          <p:cNvSpPr/>
          <p:nvPr/>
        </p:nvSpPr>
        <p:spPr>
          <a:xfrm>
            <a:off x="2487168" y="3136392"/>
            <a:ext cx="310896" cy="256032"/>
          </a:xfrm>
          <a:prstGeom prst="rightArrow">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4361688" y="3136392"/>
            <a:ext cx="310896" cy="256032"/>
          </a:xfrm>
          <a:prstGeom prst="rightArrow">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6190488" y="3136392"/>
            <a:ext cx="310896" cy="256032"/>
          </a:xfrm>
          <a:prstGeom prst="rightArrow">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806440"/>
            <a:ext cx="3657600" cy="1097280"/>
          </a:xfrm>
          <a:prstGeom prst="rect">
            <a:avLst/>
          </a:prstGeom>
          <a:noFill/>
        </p:spPr>
        <p:txBody>
          <a:bodyPr wrap="square">
            <a:spAutoFit/>
          </a:bodyPr>
          <a:lstStyle/>
          <a:p>
            <a:r>
              <a:rPr sz="850" b="1">
                <a:latin typeface="Arial"/>
              </a:rPr>
              <a:t>1. Intake &amp; Audio Engine</a:t>
            </a:r>
          </a:p>
          <a:p>
            <a:r>
              <a:rPr sz="640">
                <a:latin typeface="Arial"/>
              </a:rPr>
              <a:t>Web Audio API / 16kHz Mono Recorder with microphone track release.
WhisperFlow ASR pipeline with dual-mode Hindi/English fallback.
GIGW 3.0 and WCAG AAA compliant tactile UI with 64px tap zones.</a:t>
            </a:r>
          </a:p>
        </p:txBody>
      </p:sp>
      <p:sp>
        <p:nvSpPr>
          <p:cNvPr id="17" name="TextBox 16"/>
          <p:cNvSpPr txBox="1"/>
          <p:nvPr/>
        </p:nvSpPr>
        <p:spPr>
          <a:xfrm>
            <a:off x="4526280" y="5806440"/>
            <a:ext cx="3657600" cy="1097280"/>
          </a:xfrm>
          <a:prstGeom prst="rect">
            <a:avLst/>
          </a:prstGeom>
          <a:noFill/>
        </p:spPr>
        <p:txBody>
          <a:bodyPr wrap="square">
            <a:spAutoFit/>
          </a:bodyPr>
          <a:lstStyle/>
          <a:p>
            <a:r>
              <a:rPr sz="850" b="1">
                <a:latin typeface="Arial"/>
              </a:rPr>
              <a:t>2. Clinical Inference &amp; Scoring Core</a:t>
            </a:r>
          </a:p>
          <a:p>
            <a:r>
              <a:rPr sz="640">
                <a:latin typeface="Arial"/>
              </a:rPr>
              <a:t>Deterministic Dosha Arithmetic Engine (15-question vector sum).
SOCRATES conversational state machine.
Rule-based Emergency Red-Flag Triage Engine with regex token scanning.
Clinical Clerk LLM synthesizing FHIR-compliant clinical notes.</a:t>
            </a:r>
          </a:p>
        </p:txBody>
      </p:sp>
      <p:sp>
        <p:nvSpPr>
          <p:cNvPr id="18" name="TextBox 17"/>
          <p:cNvSpPr txBox="1"/>
          <p:nvPr/>
        </p:nvSpPr>
        <p:spPr>
          <a:xfrm>
            <a:off x="640080" y="7086600"/>
            <a:ext cx="3657600" cy="1097280"/>
          </a:xfrm>
          <a:prstGeom prst="rect">
            <a:avLst/>
          </a:prstGeom>
          <a:noFill/>
        </p:spPr>
        <p:txBody>
          <a:bodyPr wrap="square">
            <a:spAutoFit/>
          </a:bodyPr>
          <a:lstStyle/>
          <a:p>
            <a:r>
              <a:rPr sz="850" b="1">
                <a:latin typeface="Arial"/>
              </a:rPr>
              <a:t>3. Secure Cloud &amp; Transaction Store</a:t>
            </a:r>
          </a:p>
          <a:p>
            <a:r>
              <a:rPr sz="640">
                <a:latin typeface="Arial"/>
              </a:rPr>
              <a:t>Supabase PostgreSQL with Row Level Security (RLS).
AWS IPv4 Transaction Connection Pooler on port 6543.
Encrypted document storage bucket for clinical test reports.</a:t>
            </a:r>
          </a:p>
        </p:txBody>
      </p:sp>
      <p:sp>
        <p:nvSpPr>
          <p:cNvPr id="19" name="TextBox 18"/>
          <p:cNvSpPr txBox="1"/>
          <p:nvPr/>
        </p:nvSpPr>
        <p:spPr>
          <a:xfrm>
            <a:off x="4526280" y="7086600"/>
            <a:ext cx="3657600" cy="1097280"/>
          </a:xfrm>
          <a:prstGeom prst="rect">
            <a:avLst/>
          </a:prstGeom>
          <a:noFill/>
        </p:spPr>
        <p:txBody>
          <a:bodyPr wrap="square">
            <a:spAutoFit/>
          </a:bodyPr>
          <a:lstStyle/>
          <a:p>
            <a:r>
              <a:rPr sz="850" b="1">
                <a:latin typeface="Arial"/>
              </a:rPr>
              <a:t>4. Physician Review &amp; ABDM Gateway</a:t>
            </a:r>
          </a:p>
          <a:p>
            <a:r>
              <a:rPr sz="640">
                <a:latin typeface="Arial"/>
              </a:rPr>
              <a:t>Real-time prioritized triage queue (emergency cases pinned to top).
One-click Accept / Amend / Reject workflow.
Structured JSON/FHIR export for ABHA Health Information Exchange (HIE).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png"/>
          <p:cNvPicPr>
            <a:picLocks noChangeAspect="1"/>
          </p:cNvPicPr>
          <p:nvPr/>
        </p:nvPicPr>
        <p:blipFill>
          <a:blip r:embed="rId2"/>
          <a:stretch>
            <a:fillRect/>
          </a:stretch>
        </p:blipFill>
        <p:spPr>
          <a:xfrm>
            <a:off x="0" y="0"/>
            <a:ext cx="16459200" cy="9144000"/>
          </a:xfrm>
          <a:prstGeom prst="rect">
            <a:avLst/>
          </a:prstGeom>
        </p:spPr>
      </p:pic>
      <p:sp>
        <p:nvSpPr>
          <p:cNvPr id="3" name="Rectangle 2"/>
          <p:cNvSpPr/>
          <p:nvPr/>
        </p:nvSpPr>
        <p:spPr>
          <a:xfrm>
            <a:off x="2651760" y="320040"/>
            <a:ext cx="99669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371600"/>
            <a:ext cx="9646920" cy="6675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834640" y="411480"/>
            <a:ext cx="9509760" cy="658368"/>
          </a:xfrm>
          <a:prstGeom prst="rect">
            <a:avLst/>
          </a:prstGeom>
          <a:noFill/>
        </p:spPr>
        <p:txBody>
          <a:bodyPr wrap="square" lIns="36576" rIns="36576" tIns="27432" bIns="27432" anchor="t">
            <a:spAutoFit/>
          </a:bodyPr>
          <a:lstStyle/>
          <a:p>
            <a:pPr algn="ctr"/>
            <a:r>
              <a:rPr sz="2800" b="0">
                <a:solidFill>
                  <a:srgbClr val="000000"/>
                </a:solidFill>
                <a:latin typeface="Times New Roman"/>
              </a:rPr>
              <a:t>FEASIBILITY AND VIABILITY</a:t>
            </a:r>
          </a:p>
        </p:txBody>
      </p:sp>
      <p:sp>
        <p:nvSpPr>
          <p:cNvPr id="6" name="TextBox 5"/>
          <p:cNvSpPr txBox="1"/>
          <p:nvPr/>
        </p:nvSpPr>
        <p:spPr>
          <a:xfrm>
            <a:off x="1097280" y="1554480"/>
            <a:ext cx="9326880" cy="6309360"/>
          </a:xfrm>
          <a:prstGeom prst="rect">
            <a:avLst/>
          </a:prstGeom>
          <a:noFill/>
        </p:spPr>
        <p:txBody>
          <a:bodyPr wrap="square" lIns="45720" rIns="45720" tIns="18288" bIns="18288">
            <a:spAutoFit/>
          </a:bodyPr>
          <a:lstStyle/>
          <a:p>
            <a:pPr>
              <a:spcAft>
                <a:spcPts val="100"/>
              </a:spcAft>
            </a:pPr>
            <a:r>
              <a:rPr sz="890">
                <a:latin typeface="Arial"/>
              </a:rPr>
              <a:t>ANALYSIS OF THE FEASIBILITY OF THE IDEA</a:t>
            </a:r>
          </a:p>
          <a:p>
            <a:pPr>
              <a:spcAft>
                <a:spcPts val="100"/>
              </a:spcAft>
            </a:pPr>
            <a:r>
              <a:rPr sz="890">
                <a:latin typeface="Arial"/>
              </a:rPr>
              <a:t>• </a:t>
            </a:r>
            <a:r>
              <a:rPr b="1" sz="890">
                <a:latin typeface="Arial"/>
              </a:rPr>
              <a:t>Technical Feasibility</a:t>
            </a:r>
            <a:r>
              <a:rPr sz="890">
                <a:latin typeface="Arial"/>
              </a:rPr>
              <a:t>: Built with battle-tested standards (FastAPI, React 18, PostgreSQL 15). Deployed live on Vercel and Render with verified 99.9% uptime.</a:t>
            </a:r>
          </a:p>
          <a:p>
            <a:pPr>
              <a:spcAft>
                <a:spcPts val="100"/>
              </a:spcAft>
            </a:pPr>
            <a:r>
              <a:rPr sz="890">
                <a:latin typeface="Arial"/>
              </a:rPr>
              <a:t>• </a:t>
            </a:r>
            <a:r>
              <a:rPr b="1" sz="890">
                <a:latin typeface="Arial"/>
              </a:rPr>
              <a:t>Hardware Agnostic</a:t>
            </a:r>
            <a:r>
              <a:rPr sz="890">
                <a:latin typeface="Arial"/>
              </a:rPr>
              <a:t>: Runs in any Chromium kiosk browser on low-cost Android/Linux/Windows tablets or touch displays; no proprietary hardware lock-in.</a:t>
            </a:r>
          </a:p>
          <a:p>
            <a:pPr>
              <a:spcAft>
                <a:spcPts val="100"/>
              </a:spcAft>
            </a:pPr>
            <a:r>
              <a:rPr sz="890">
                <a:latin typeface="Arial"/>
              </a:rPr>
              <a:t>• </a:t>
            </a:r>
            <a:r>
              <a:rPr b="1" sz="890">
                <a:latin typeface="Arial"/>
              </a:rPr>
              <a:t>Cost Viability</a:t>
            </a:r>
            <a:r>
              <a:rPr sz="890">
                <a:latin typeface="Arial"/>
              </a:rPr>
              <a:t>: Zero API billing overhead using efficient lightweight LLM calls, deterministic local scoring, and open-source database infrastructure.</a:t>
            </a:r>
          </a:p>
          <a:p>
            <a:pPr>
              <a:spcAft>
                <a:spcPts val="100"/>
              </a:spcAft>
            </a:pPr>
            <a:r>
              <a:rPr sz="890">
                <a:latin typeface="Arial"/>
              </a:rPr>
              <a:t>• </a:t>
            </a:r>
            <a:r>
              <a:rPr b="1" sz="890">
                <a:latin typeface="Arial"/>
              </a:rPr>
              <a:t>Operational Scalability</a:t>
            </a:r>
            <a:r>
              <a:rPr sz="890">
                <a:latin typeface="Arial"/>
              </a:rPr>
              <a:t>: Capable of handling 500+ patient intakes per hospital per day with asynchronous background queue processing.</a:t>
            </a:r>
          </a:p>
          <a:p>
            <a:pPr>
              <a:spcAft>
                <a:spcPts val="100"/>
              </a:spcAft>
            </a:pPr>
            <a:r>
              <a:rPr sz="890">
                <a:latin typeface="Arial"/>
              </a:rPr>
              <a:t>POTENTIAL CHALLENGES</a:t>
            </a:r>
          </a:p>
          <a:p>
            <a:pPr>
              <a:spcAft>
                <a:spcPts val="100"/>
              </a:spcAft>
            </a:pPr>
            <a:r>
              <a:rPr sz="890">
                <a:latin typeface="Arial"/>
              </a:rPr>
              <a:t>• </a:t>
            </a:r>
            <a:r>
              <a:rPr b="1" sz="890">
                <a:latin typeface="Arial"/>
              </a:rPr>
              <a:t>Elderly / Low-Literacy Friction &amp; Ambient Noise</a:t>
            </a:r>
            <a:r>
              <a:rPr sz="890">
                <a:latin typeface="Arial"/>
              </a:rPr>
              <a:t> — Hospital OPD waiting areas are noisy; elderly patients may speak colloquial Hindi dialects.</a:t>
            </a:r>
          </a:p>
          <a:p>
            <a:pPr>
              <a:spcAft>
                <a:spcPts val="100"/>
              </a:spcAft>
            </a:pPr>
            <a:r>
              <a:rPr sz="890">
                <a:latin typeface="Arial"/>
              </a:rPr>
              <a:t>  </a:t>
            </a:r>
            <a:r>
              <a:rPr b="1" sz="890">
                <a:latin typeface="Arial"/>
              </a:rPr>
              <a:t>Dual Fallback Architecture</a:t>
            </a:r>
            <a:r>
              <a:rPr sz="890">
                <a:latin typeface="Arial"/>
              </a:rPr>
              <a:t>: Automatic volume-normalized 16kHz mono audio intake paired with high-contrast icon touchcards so patients can tap if voice recognition struggles.</a:t>
            </a:r>
          </a:p>
          <a:p>
            <a:pPr>
              <a:spcAft>
                <a:spcPts val="100"/>
              </a:spcAft>
            </a:pPr>
            <a:r>
              <a:rPr sz="890">
                <a:latin typeface="Arial"/>
              </a:rPr>
              <a:t>• </a:t>
            </a:r>
            <a:r>
              <a:rPr b="1" sz="890">
                <a:latin typeface="Arial"/>
              </a:rPr>
              <a:t>Risk of AI Diagnostic Hallucination</a:t>
            </a:r>
            <a:r>
              <a:rPr sz="890">
                <a:latin typeface="Arial"/>
              </a:rPr>
              <a:t> — LLMs can invent Ayurvedic diagnoses, treatments, or incorrect dosha ratios.</a:t>
            </a:r>
          </a:p>
          <a:p>
            <a:pPr>
              <a:spcAft>
                <a:spcPts val="100"/>
              </a:spcAft>
            </a:pPr>
            <a:r>
              <a:rPr sz="890">
                <a:latin typeface="Arial"/>
              </a:rPr>
              <a:t>  </a:t>
            </a:r>
            <a:r>
              <a:rPr b="1" sz="890">
                <a:latin typeface="Arial"/>
              </a:rPr>
              <a:t>Hard Architectural Separation</a:t>
            </a:r>
            <a:r>
              <a:rPr sz="890">
                <a:latin typeface="Arial"/>
              </a:rPr>
              <a:t>: Clinical scoring and emergency triage are strictly mathematical and rule-based. The LLM is restricted to narrative summarization and never prescribes.</a:t>
            </a:r>
          </a:p>
          <a:p>
            <a:pPr>
              <a:spcAft>
                <a:spcPts val="100"/>
              </a:spcAft>
            </a:pPr>
            <a:r>
              <a:rPr sz="890">
                <a:latin typeface="Arial"/>
              </a:rPr>
              <a:t>• </a:t>
            </a:r>
            <a:r>
              <a:rPr b="1" sz="890">
                <a:latin typeface="Arial"/>
              </a:rPr>
              <a:t>Hospital Network Outages</a:t>
            </a:r>
            <a:r>
              <a:rPr sz="890">
                <a:latin typeface="Arial"/>
              </a:rPr>
              <a:t> — Government hospital OPDs frequently experience intermittent internet connectivity.</a:t>
            </a:r>
          </a:p>
          <a:p>
            <a:pPr>
              <a:spcAft>
                <a:spcPts val="100"/>
              </a:spcAft>
            </a:pPr>
            <a:r>
              <a:rPr sz="890">
                <a:latin typeface="Arial"/>
              </a:rPr>
              <a:t>  </a:t>
            </a:r>
            <a:r>
              <a:rPr b="1" sz="890">
                <a:latin typeface="Arial"/>
              </a:rPr>
              <a:t>Offline-First Resilience</a:t>
            </a:r>
            <a:r>
              <a:rPr sz="890">
                <a:latin typeface="Arial"/>
              </a:rPr>
              <a:t>: Question flow, audio prompts, and scoring rubrics are cached client-side; sessions queue locally and sync when back online.</a:t>
            </a:r>
          </a:p>
          <a:p>
            <a:pPr>
              <a:spcAft>
                <a:spcPts val="100"/>
              </a:spcAft>
            </a:pPr>
            <a:r>
              <a:rPr sz="890">
                <a:latin typeface="Arial"/>
              </a:rPr>
              <a:t>• </a:t>
            </a:r>
            <a:r>
              <a:rPr b="1" sz="890">
                <a:latin typeface="Arial"/>
              </a:rPr>
              <a:t>Physician Workflow Disruption</a:t>
            </a:r>
            <a:r>
              <a:rPr sz="890">
                <a:latin typeface="Arial"/>
              </a:rPr>
              <a:t> — Doctors reject tools that add extra documentation clicks to their 100+ patient day.</a:t>
            </a:r>
          </a:p>
          <a:p>
            <a:pPr>
              <a:spcAft>
                <a:spcPts val="100"/>
              </a:spcAft>
            </a:pPr>
            <a:r>
              <a:rPr sz="890">
                <a:latin typeface="Arial"/>
              </a:rPr>
              <a:t>  </a:t>
            </a:r>
            <a:r>
              <a:rPr b="1" sz="890">
                <a:latin typeface="Arial"/>
              </a:rPr>
              <a:t>Instant Visual Intake</a:t>
            </a:r>
            <a:r>
              <a:rPr sz="890">
                <a:latin typeface="Arial"/>
              </a:rPr>
              <a:t>: Replaces 10 minutes of manual history taking with an 8-second visual scan of dominant Prakriti, red flags, and complaints.</a:t>
            </a:r>
          </a:p>
          <a:p>
            <a:pPr>
              <a:spcAft>
                <a:spcPts val="100"/>
              </a:spcAft>
            </a:pPr>
            <a:r>
              <a:rPr sz="890">
                <a:latin typeface="Arial"/>
              </a:rPr>
              <a:t>STRATEGIES TO OVERCOME CHALLENGES</a:t>
            </a:r>
          </a:p>
          <a:p>
            <a:pPr>
              <a:spcAft>
                <a:spcPts val="100"/>
              </a:spcAft>
            </a:pPr>
            <a:r>
              <a:rPr sz="890">
                <a:latin typeface="Arial"/>
              </a:rPr>
              <a:t>• </a:t>
            </a:r>
            <a:r>
              <a:rPr b="1" sz="890">
                <a:latin typeface="Arial"/>
              </a:rPr>
              <a:t>Role-Based Access Control Implementation</a:t>
            </a:r>
            <a:r>
              <a:rPr sz="890">
                <a:latin typeface="Arial"/>
              </a:rPr>
              <a:t>: An RBAC system can efficiently manage access, ensuring system integrity and security.</a:t>
            </a:r>
          </a:p>
          <a:p>
            <a:pPr>
              <a:spcAft>
                <a:spcPts val="100"/>
              </a:spcAft>
            </a:pPr>
            <a:r>
              <a:rPr sz="890">
                <a:latin typeface="Arial"/>
              </a:rPr>
              <a:t>• </a:t>
            </a:r>
            <a:r>
              <a:rPr b="1" sz="890">
                <a:latin typeface="Arial"/>
              </a:rPr>
              <a:t>Robust Testing and Configuration Management</a:t>
            </a:r>
            <a:r>
              <a:rPr sz="890">
                <a:latin typeface="Arial"/>
              </a:rPr>
              <a:t>: A thorough testing suite and configuration database help manage system updates and minimize integration issues.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png"/>
          <p:cNvPicPr>
            <a:picLocks noChangeAspect="1"/>
          </p:cNvPicPr>
          <p:nvPr/>
        </p:nvPicPr>
        <p:blipFill>
          <a:blip r:embed="rId2"/>
          <a:stretch>
            <a:fillRect/>
          </a:stretch>
        </p:blipFill>
        <p:spPr>
          <a:xfrm>
            <a:off x="0" y="0"/>
            <a:ext cx="16459200" cy="9144000"/>
          </a:xfrm>
          <a:prstGeom prst="rect">
            <a:avLst/>
          </a:prstGeom>
        </p:spPr>
      </p:pic>
      <p:sp>
        <p:nvSpPr>
          <p:cNvPr id="3" name="Rectangle 2"/>
          <p:cNvSpPr/>
          <p:nvPr/>
        </p:nvSpPr>
        <p:spPr>
          <a:xfrm>
            <a:off x="2743200" y="320040"/>
            <a:ext cx="99669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25880" y="1965960"/>
            <a:ext cx="5897880" cy="571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412480" y="1645920"/>
            <a:ext cx="7269480" cy="6355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26080" y="411480"/>
            <a:ext cx="9509760" cy="658368"/>
          </a:xfrm>
          <a:prstGeom prst="rect">
            <a:avLst/>
          </a:prstGeom>
          <a:noFill/>
        </p:spPr>
        <p:txBody>
          <a:bodyPr wrap="square" lIns="36576" rIns="36576" tIns="27432" bIns="27432" anchor="t">
            <a:spAutoFit/>
          </a:bodyPr>
          <a:lstStyle/>
          <a:p>
            <a:pPr algn="ctr"/>
            <a:r>
              <a:rPr sz="2800" b="0">
                <a:solidFill>
                  <a:srgbClr val="000000"/>
                </a:solidFill>
                <a:latin typeface="Times New Roman"/>
              </a:rPr>
              <a:t>IMPACT AND BENEFITS</a:t>
            </a:r>
          </a:p>
        </p:txBody>
      </p:sp>
      <p:sp>
        <p:nvSpPr>
          <p:cNvPr id="7" name="TextBox 6"/>
          <p:cNvSpPr txBox="1"/>
          <p:nvPr/>
        </p:nvSpPr>
        <p:spPr>
          <a:xfrm>
            <a:off x="1508760" y="2148840"/>
            <a:ext cx="5486400" cy="5303520"/>
          </a:xfrm>
          <a:prstGeom prst="rect">
            <a:avLst/>
          </a:prstGeom>
          <a:noFill/>
        </p:spPr>
        <p:txBody>
          <a:bodyPr wrap="square" lIns="45720" rIns="45720" tIns="18288" bIns="18288">
            <a:spAutoFit/>
          </a:bodyPr>
          <a:lstStyle/>
          <a:p>
            <a:pPr>
              <a:spcAft>
                <a:spcPts val="400"/>
              </a:spcAft>
            </a:pPr>
            <a:r>
              <a:rPr sz="1100">
                <a:latin typeface="Arial"/>
              </a:rPr>
              <a:t>IMPACT</a:t>
            </a:r>
          </a:p>
          <a:p>
            <a:pPr>
              <a:spcAft>
                <a:spcPts val="400"/>
              </a:spcAft>
            </a:pPr>
            <a:r>
              <a:rPr sz="1100">
                <a:latin typeface="Arial"/>
              </a:rPr>
              <a:t>• </a:t>
            </a:r>
            <a:r>
              <a:rPr b="1" sz="1100">
                <a:latin typeface="Arial"/>
              </a:rPr>
              <a:t>75% Time Reduction</a:t>
            </a:r>
            <a:r>
              <a:rPr sz="1100">
                <a:latin typeface="Arial"/>
              </a:rPr>
              <a:t>: Drops patient intake documentation from 8–10 minutes to under 2 minutes.</a:t>
            </a:r>
          </a:p>
          <a:p>
            <a:pPr>
              <a:spcAft>
                <a:spcPts val="400"/>
              </a:spcAft>
            </a:pPr>
            <a:r>
              <a:rPr sz="1100">
                <a:latin typeface="Arial"/>
              </a:rPr>
              <a:t>• </a:t>
            </a:r>
            <a:r>
              <a:rPr b="1" sz="1100">
                <a:latin typeface="Arial"/>
              </a:rPr>
              <a:t>100% Dashavidha Standardization</a:t>
            </a:r>
            <a:r>
              <a:rPr sz="1100">
                <a:latin typeface="Arial"/>
              </a:rPr>
              <a:t>: Ensures every single patient receives constitutional assessment rather than skipping it due to rush.</a:t>
            </a:r>
          </a:p>
          <a:p>
            <a:pPr>
              <a:spcAft>
                <a:spcPts val="400"/>
              </a:spcAft>
            </a:pPr>
            <a:r>
              <a:rPr sz="1100">
                <a:latin typeface="Arial"/>
              </a:rPr>
              <a:t>• </a:t>
            </a:r>
            <a:r>
              <a:rPr b="1" sz="1100">
                <a:latin typeface="Arial"/>
              </a:rPr>
              <a:t>Zero Emergency Delay</a:t>
            </a:r>
            <a:r>
              <a:rPr sz="1100">
                <a:latin typeface="Arial"/>
              </a:rPr>
              <a:t>: Red-flag symptoms prioritized instantly on the physician's screen before the patient enters the OPD room.</a:t>
            </a:r>
          </a:p>
          <a:p>
            <a:pPr>
              <a:spcAft>
                <a:spcPts val="400"/>
              </a:spcAft>
            </a:pPr>
            <a:r>
              <a:rPr sz="1100">
                <a:latin typeface="Arial"/>
              </a:rPr>
              <a:t>• </a:t>
            </a:r>
            <a:r>
              <a:rPr b="1" sz="1100">
                <a:latin typeface="Arial"/>
              </a:rPr>
              <a:t>100% DPDP &amp; Consent Compliance</a:t>
            </a:r>
            <a:r>
              <a:rPr sz="1100">
                <a:latin typeface="Arial"/>
              </a:rPr>
              <a:t>: Verifiable digital audio consent captured and timestamped for every session.</a:t>
            </a:r>
          </a:p>
          <a:p>
            <a:pPr>
              <a:spcAft>
                <a:spcPts val="400"/>
              </a:spcAft>
            </a:pPr>
            <a:r>
              <a:rPr sz="1100">
                <a:latin typeface="Arial"/>
              </a:rPr>
              <a:t>BENEFITS</a:t>
            </a:r>
          </a:p>
          <a:p>
            <a:pPr>
              <a:spcAft>
                <a:spcPts val="400"/>
              </a:spcAft>
            </a:pPr>
            <a:r>
              <a:rPr sz="1100">
                <a:latin typeface="Arial"/>
              </a:rPr>
              <a:t>• Streamlined Management Process</a:t>
            </a:r>
          </a:p>
          <a:p>
            <a:pPr>
              <a:spcAft>
                <a:spcPts val="400"/>
              </a:spcAft>
            </a:pPr>
            <a:r>
              <a:rPr sz="1100">
                <a:latin typeface="Arial"/>
              </a:rPr>
              <a:t>• Enhanced System Security</a:t>
            </a:r>
          </a:p>
          <a:p>
            <a:pPr>
              <a:spcAft>
                <a:spcPts val="400"/>
              </a:spcAft>
            </a:pPr>
            <a:r>
              <a:rPr sz="1100">
                <a:latin typeface="Arial"/>
              </a:rPr>
              <a:t>• Compliance and Cost Efficiency</a:t>
            </a:r>
          </a:p>
          <a:p>
            <a:pPr>
              <a:spcAft>
                <a:spcPts val="400"/>
              </a:spcAft>
            </a:pPr>
            <a:r>
              <a:rPr sz="1100">
                <a:latin typeface="Arial"/>
              </a:rPr>
              <a:t>• Power of AI without Internet</a:t>
            </a:r>
          </a:p>
        </p:txBody>
      </p:sp>
      <p:sp>
        <p:nvSpPr>
          <p:cNvPr id="8" name="TextBox 7"/>
          <p:cNvSpPr txBox="1"/>
          <p:nvPr/>
        </p:nvSpPr>
        <p:spPr>
          <a:xfrm>
            <a:off x="8641080" y="1828800"/>
            <a:ext cx="6720840" cy="5989320"/>
          </a:xfrm>
          <a:prstGeom prst="rect">
            <a:avLst/>
          </a:prstGeom>
          <a:noFill/>
        </p:spPr>
        <p:txBody>
          <a:bodyPr wrap="square" lIns="45720" rIns="45720" tIns="18288" bIns="18288">
            <a:spAutoFit/>
          </a:bodyPr>
          <a:lstStyle/>
          <a:p>
            <a:pPr>
              <a:spcAft>
                <a:spcPts val="300"/>
              </a:spcAft>
            </a:pPr>
            <a:r>
              <a:rPr sz="960">
                <a:latin typeface="Arial"/>
              </a:rPr>
              <a:t>FOR INSTANCE: USER STORY</a:t>
            </a:r>
          </a:p>
          <a:p>
            <a:pPr>
              <a:spcAft>
                <a:spcPts val="300"/>
              </a:spcAft>
            </a:pPr>
            <a:r>
              <a:rPr sz="960">
                <a:latin typeface="Arial"/>
              </a:rPr>
              <a:t>Scenario</a:t>
            </a:r>
          </a:p>
          <a:p>
            <a:pPr>
              <a:spcAft>
                <a:spcPts val="300"/>
              </a:spcAft>
            </a:pPr>
            <a:r>
              <a:rPr sz="960">
                <a:latin typeface="Arial"/>
              </a:rPr>
              <a:t>• Ramesh Kumar (61, rural farmer, speaks only Hindi, no smartphone) arrives at an overburdened AIIA OPD with chronic knee pain and mild shortness of breath. The waiting queue exceeds 80 patients.</a:t>
            </a:r>
          </a:p>
          <a:p>
            <a:pPr>
              <a:spcAft>
                <a:spcPts val="300"/>
              </a:spcAft>
            </a:pPr>
            <a:r>
              <a:rPr sz="960">
                <a:latin typeface="Arial"/>
              </a:rPr>
              <a:t>Intake Impact</a:t>
            </a:r>
          </a:p>
          <a:p>
            <a:pPr>
              <a:spcAft>
                <a:spcPts val="300"/>
              </a:spcAft>
            </a:pPr>
            <a:r>
              <a:rPr sz="960">
                <a:latin typeface="Arial"/>
              </a:rPr>
              <a:t>• Ramesh speaks to the kiosk in Hindi. The kiosk guides him through audio, records his Sandhivata (osteoarthritis) symptoms, notes his exertion-related breathlessness, calculates his Vata-Kapha constitution deterministically, and triggers an immediate Orange Triage Flag.</a:t>
            </a:r>
          </a:p>
          <a:p>
            <a:pPr>
              <a:spcAft>
                <a:spcPts val="300"/>
              </a:spcAft>
            </a:pPr>
            <a:r>
              <a:rPr sz="960">
                <a:latin typeface="Arial"/>
              </a:rPr>
              <a:t>Clinical Benefit</a:t>
            </a:r>
          </a:p>
          <a:p>
            <a:pPr>
              <a:spcAft>
                <a:spcPts val="300"/>
              </a:spcAft>
            </a:pPr>
            <a:r>
              <a:rPr sz="960">
                <a:latin typeface="Arial"/>
              </a:rPr>
              <a:t>• When Ramesh enters Dr. Sharma's chamber, Dr. Sharma doesn't spend 8 minutes asking repetitive intake questions. He immediately sees Ramesh's Vata-Kapha baseline, notices the breathlessness triage alert, auscultates his chest, prescribes targeted Ayurvedic vata-shamaka therapy, and refers him for an ECG—all completed safely in under 4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png"/>
          <p:cNvPicPr>
            <a:picLocks noChangeAspect="1"/>
          </p:cNvPicPr>
          <p:nvPr/>
        </p:nvPicPr>
        <p:blipFill>
          <a:blip r:embed="rId2"/>
          <a:stretch>
            <a:fillRect/>
          </a:stretch>
        </p:blipFill>
        <p:spPr>
          <a:xfrm>
            <a:off x="0" y="0"/>
            <a:ext cx="16459200" cy="9144000"/>
          </a:xfrm>
          <a:prstGeom prst="rect">
            <a:avLst/>
          </a:prstGeom>
        </p:spPr>
      </p:pic>
      <p:sp>
        <p:nvSpPr>
          <p:cNvPr id="3" name="Rectangle 2"/>
          <p:cNvSpPr/>
          <p:nvPr/>
        </p:nvSpPr>
        <p:spPr>
          <a:xfrm>
            <a:off x="2743200" y="320040"/>
            <a:ext cx="99669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65960" y="192024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65960" y="333756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65960" y="475488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65960" y="617220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41280" y="1874519"/>
            <a:ext cx="475488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41280" y="3291840"/>
            <a:ext cx="475488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241280" y="4709160"/>
            <a:ext cx="475488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241280" y="6126480"/>
            <a:ext cx="475488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0360" y="411480"/>
            <a:ext cx="9601200" cy="658368"/>
          </a:xfrm>
          <a:prstGeom prst="rect">
            <a:avLst/>
          </a:prstGeom>
          <a:noFill/>
        </p:spPr>
        <p:txBody>
          <a:bodyPr wrap="square" lIns="36576" rIns="36576" tIns="27432" bIns="27432" anchor="t">
            <a:spAutoFit/>
          </a:bodyPr>
          <a:lstStyle/>
          <a:p>
            <a:pPr algn="ctr"/>
            <a:r>
              <a:rPr sz="2000" b="0">
                <a:solidFill>
                  <a:srgbClr val="000000"/>
                </a:solidFill>
                <a:latin typeface="Times New Roman"/>
              </a:rPr>
              <a:t>CLINICAL RESEARCH, STANDARDS &amp; FUTURE SCOPE</a:t>
            </a:r>
          </a:p>
        </p:txBody>
      </p:sp>
      <p:sp>
        <p:nvSpPr>
          <p:cNvPr id="13" name="TextBox 12"/>
          <p:cNvSpPr txBox="1"/>
          <p:nvPr/>
        </p:nvSpPr>
        <p:spPr>
          <a:xfrm>
            <a:off x="1920240" y="1965960"/>
            <a:ext cx="5303520" cy="1691640"/>
          </a:xfrm>
          <a:prstGeom prst="rect">
            <a:avLst/>
          </a:prstGeom>
          <a:noFill/>
        </p:spPr>
        <p:txBody>
          <a:bodyPr wrap="square" lIns="45720" rIns="45720" tIns="18288" bIns="18288">
            <a:spAutoFit/>
          </a:bodyPr>
          <a:lstStyle/>
          <a:p>
            <a:pPr>
              <a:spcAft>
                <a:spcPts val="200"/>
              </a:spcAft>
            </a:pPr>
            <a:r>
              <a:rPr sz="819">
                <a:latin typeface="Arial"/>
              </a:rPr>
              <a:t>CLASSICAL AYURVEDIC TEXTUAL GROUNDING</a:t>
            </a:r>
          </a:p>
          <a:p>
            <a:pPr>
              <a:spcAft>
                <a:spcPts val="200"/>
              </a:spcAft>
            </a:pPr>
            <a:r>
              <a:rPr sz="819">
                <a:latin typeface="Arial"/>
              </a:rPr>
              <a:t>• </a:t>
            </a:r>
            <a:r>
              <a:rPr b="1" sz="819">
                <a:latin typeface="Arial"/>
              </a:rPr>
              <a:t>Charaka Samhita (Vimana Sthana, Adhyaya 8, Shloka 96–100)</a:t>
            </a:r>
            <a:r>
              <a:rPr sz="819">
                <a:latin typeface="Arial"/>
              </a:rPr>
              <a:t>: Deha-Prakriti Lakshana and Dashavidha Pariksha methodology.</a:t>
            </a:r>
          </a:p>
          <a:p>
            <a:pPr>
              <a:spcAft>
                <a:spcPts val="200"/>
              </a:spcAft>
            </a:pPr>
            <a:r>
              <a:rPr sz="819">
                <a:latin typeface="Arial"/>
              </a:rPr>
              <a:t>• </a:t>
            </a:r>
            <a:r>
              <a:rPr b="1" sz="819">
                <a:latin typeface="Arial"/>
              </a:rPr>
              <a:t>Sushruta Samhita (Sharira Sthana, Adhyaya 4)</a:t>
            </a:r>
            <a:r>
              <a:rPr sz="819">
                <a:latin typeface="Arial"/>
              </a:rPr>
              <a:t>: Doshaja Prakriti physical and psychological manifestations.</a:t>
            </a:r>
          </a:p>
          <a:p>
            <a:pPr>
              <a:spcAft>
                <a:spcPts val="200"/>
              </a:spcAft>
            </a:pPr>
            <a:r>
              <a:rPr sz="819">
                <a:latin typeface="Arial"/>
              </a:rPr>
              <a:t>• </a:t>
            </a:r>
            <a:r>
              <a:rPr b="1" sz="819">
                <a:latin typeface="Arial"/>
              </a:rPr>
              <a:t>Ashtanga Hridaya (Sutra Sthana, Adhyaya 1)</a:t>
            </a:r>
            <a:r>
              <a:rPr sz="819">
                <a:latin typeface="Arial"/>
              </a:rPr>
              <a:t>: Tridosha assessment principles.</a:t>
            </a:r>
          </a:p>
        </p:txBody>
      </p:sp>
      <p:sp>
        <p:nvSpPr>
          <p:cNvPr id="14" name="TextBox 13"/>
          <p:cNvSpPr txBox="1"/>
          <p:nvPr/>
        </p:nvSpPr>
        <p:spPr>
          <a:xfrm>
            <a:off x="10012680" y="1965960"/>
            <a:ext cx="5486400" cy="1691640"/>
          </a:xfrm>
          <a:prstGeom prst="rect">
            <a:avLst/>
          </a:prstGeom>
          <a:noFill/>
        </p:spPr>
        <p:txBody>
          <a:bodyPr wrap="square" lIns="45720" rIns="45720" tIns="18288" bIns="18288">
            <a:spAutoFit/>
          </a:bodyPr>
          <a:lstStyle/>
          <a:p>
            <a:pPr>
              <a:spcAft>
                <a:spcPts val="200"/>
              </a:spcAft>
            </a:pPr>
            <a:r>
              <a:rPr sz="800">
                <a:latin typeface="Arial"/>
              </a:rPr>
              <a:t>NATIONAL DIGITAL HEALTH STANDARDS &amp; COMPLIANCE</a:t>
            </a:r>
          </a:p>
          <a:p>
            <a:pPr>
              <a:spcAft>
                <a:spcPts val="200"/>
              </a:spcAft>
            </a:pPr>
            <a:r>
              <a:rPr sz="800">
                <a:latin typeface="Arial"/>
              </a:rPr>
              <a:t>• </a:t>
            </a:r>
            <a:r>
              <a:rPr b="1" sz="800">
                <a:latin typeface="Arial"/>
              </a:rPr>
              <a:t>ABDM (Ayushman Bharat Digital Mission)</a:t>
            </a:r>
            <a:r>
              <a:rPr sz="800">
                <a:latin typeface="Arial"/>
              </a:rPr>
              <a:t>: FHIR-compliant data structures ready for ABHA ID linkage and Health Information Provider (HIP) integration.</a:t>
            </a:r>
          </a:p>
          <a:p>
            <a:pPr>
              <a:spcAft>
                <a:spcPts val="200"/>
              </a:spcAft>
            </a:pPr>
            <a:r>
              <a:rPr sz="800">
                <a:latin typeface="Arial"/>
              </a:rPr>
              <a:t>• </a:t>
            </a:r>
            <a:r>
              <a:rPr b="1" sz="800">
                <a:latin typeface="Arial"/>
              </a:rPr>
              <a:t>DPDP Act 2023 (Digital Personal Data Protection)</a:t>
            </a:r>
            <a:r>
              <a:rPr sz="800">
                <a:latin typeface="Arial"/>
              </a:rPr>
              <a:t>: Strict data minimization, clear audio consent, zero persistent kiosk storage.</a:t>
            </a:r>
          </a:p>
          <a:p>
            <a:pPr>
              <a:spcAft>
                <a:spcPts val="200"/>
              </a:spcAft>
            </a:pPr>
            <a:r>
              <a:rPr sz="800">
                <a:latin typeface="Arial"/>
              </a:rPr>
              <a:t>• </a:t>
            </a:r>
            <a:r>
              <a:rPr b="1" sz="800">
                <a:latin typeface="Arial"/>
              </a:rPr>
              <a:t>GIGW 3.0 &amp; WCAG 2.1 AAA</a:t>
            </a:r>
            <a:r>
              <a:rPr sz="800">
                <a:latin typeface="Arial"/>
              </a:rPr>
              <a:t>: High-contrast visual tokens, large touch targets, bilingual screen reader compatibility.</a:t>
            </a:r>
          </a:p>
        </p:txBody>
      </p:sp>
      <p:sp>
        <p:nvSpPr>
          <p:cNvPr id="15" name="TextBox 14"/>
          <p:cNvSpPr txBox="1"/>
          <p:nvPr/>
        </p:nvSpPr>
        <p:spPr>
          <a:xfrm>
            <a:off x="1920240" y="4800600"/>
            <a:ext cx="5486400" cy="1051560"/>
          </a:xfrm>
          <a:prstGeom prst="rect">
            <a:avLst/>
          </a:prstGeom>
          <a:noFill/>
        </p:spPr>
        <p:txBody>
          <a:bodyPr wrap="square" lIns="45720" rIns="45720" tIns="18288" bIns="18288">
            <a:spAutoFit/>
          </a:bodyPr>
          <a:lstStyle/>
          <a:p>
            <a:pPr>
              <a:spcAft>
                <a:spcPts val="200"/>
              </a:spcAft>
            </a:pPr>
            <a:r>
              <a:rPr sz="869">
                <a:latin typeface="Arial"/>
              </a:rPr>
              <a:t>CLINICAL VALIDATION &amp; GUIDANCE</a:t>
            </a:r>
          </a:p>
          <a:p>
            <a:pPr>
              <a:spcAft>
                <a:spcPts val="200"/>
              </a:spcAft>
            </a:pPr>
            <a:r>
              <a:rPr sz="869">
                <a:latin typeface="Arial"/>
              </a:rPr>
              <a:t>• Standardized clinical question sets, differential branching, and triage safety thresholds formulated and verified under the advisory of </a:t>
            </a:r>
            <a:r>
              <a:rPr b="1" sz="869">
                <a:latin typeface="Arial"/>
              </a:rPr>
              <a:t>BAMS / MD (Ayurveda) clinicians</a:t>
            </a:r>
            <a:r>
              <a:rPr sz="869">
                <a:latin typeface="Arial"/>
              </a:rPr>
              <a:t>.</a:t>
            </a:r>
          </a:p>
        </p:txBody>
      </p:sp>
      <p:sp>
        <p:nvSpPr>
          <p:cNvPr id="16" name="TextBox 15"/>
          <p:cNvSpPr txBox="1"/>
          <p:nvPr/>
        </p:nvSpPr>
        <p:spPr>
          <a:xfrm>
            <a:off x="10012680" y="4800600"/>
            <a:ext cx="5486400" cy="1508760"/>
          </a:xfrm>
          <a:prstGeom prst="rect">
            <a:avLst/>
          </a:prstGeom>
          <a:noFill/>
        </p:spPr>
        <p:txBody>
          <a:bodyPr wrap="square" lIns="45720" rIns="45720" tIns="18288" bIns="18288">
            <a:spAutoFit/>
          </a:bodyPr>
          <a:lstStyle/>
          <a:p>
            <a:pPr>
              <a:spcAft>
                <a:spcPts val="200"/>
              </a:spcAft>
            </a:pPr>
            <a:r>
              <a:rPr sz="869">
                <a:latin typeface="Arial"/>
              </a:rPr>
              <a:t>ROADMAP &amp; FUTURE ENHANCEMENTS</a:t>
            </a:r>
          </a:p>
          <a:p>
            <a:pPr>
              <a:spcAft>
                <a:spcPts val="200"/>
              </a:spcAft>
            </a:pPr>
            <a:r>
              <a:rPr sz="869">
                <a:latin typeface="Arial"/>
              </a:rPr>
              <a:t>• Integration with National Bhashini API for 22 scheduled Indian regional languages.</a:t>
            </a:r>
          </a:p>
          <a:p>
            <a:pPr>
              <a:spcAft>
                <a:spcPts val="200"/>
              </a:spcAft>
            </a:pPr>
            <a:r>
              <a:rPr sz="869">
                <a:latin typeface="Arial"/>
              </a:rPr>
              <a:t>• Direct hardware integration with OPD thermal token printers and ABDM QR card scanners.</a:t>
            </a:r>
          </a:p>
          <a:p>
            <a:pPr>
              <a:spcAft>
                <a:spcPts val="200"/>
              </a:spcAft>
            </a:pPr>
            <a:r>
              <a:rPr sz="869">
                <a:latin typeface="Arial"/>
              </a:rPr>
              <a:t>• Pulse and Prakriti correlation via non-invasive sensor integration (Nadi Pariksha module).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